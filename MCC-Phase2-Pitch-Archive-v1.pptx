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c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365760"/>
            <a:ext cx="1645920" cy="1453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What if you could read your operators' minds?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83464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756F"/>
                </a:solidFill>
                <a:latin typeface="Calibri"/>
              </a:defRPr>
            </a:pPr>
            <a:r>
              <a:t>You built a world-class VR training system. Now it's time to unlock what it's really measuring. Not just performance, but human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023360"/>
            <a:ext cx="5212080" cy="54864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77E7"/>
                </a:solidFill>
                <a:latin typeface="Calibri"/>
              </a:defRPr>
            </a:pPr>
            <a:r>
              <a:t>MCC x ARK Integration: Phase 2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756F"/>
                </a:solidFill>
                <a:latin typeface="Calibri"/>
              </a:defRPr>
            </a:pPr>
            <a:r>
              <a:t>Confidential | MCC Internal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The MCC VR Training System is already world-class.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377440" cy="12801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77E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VR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920240"/>
            <a:ext cx="2377440" cy="12801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77E7"/>
                </a:solidFill>
                <a:latin typeface="Calibri"/>
              </a:defRPr>
            </a:pPr>
            <a:r>
              <a:t>8+1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1920240"/>
            <a:ext cx="2377440" cy="12801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77E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Biometric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04504" y="1920240"/>
            <a:ext cx="2377440" cy="12801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4504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77E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4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Scoring 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A fully on-premises, biometric-integrated VR CCTV training platform with real-time eye tracking, stress monitoring, and AI-driven performance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480560"/>
            <a:ext cx="9966960" cy="109728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617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0EB"/>
                </a:solidFill>
                <a:latin typeface="Calibri"/>
              </a:defRPr>
            </a:pPr>
            <a:r>
              <a:t>This is an exceptional training system. But right now, it's measuring performance. It's not yet measuring capability. There's a critical difference.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THE NEXT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An operator scores 82. Now imagine knowing why.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2468880" cy="25603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How will they perform under real-world stress?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77E7"/>
                </a:solidFill>
                <a:latin typeface="Calibri"/>
              </a:defRPr>
            </a:pPr>
            <a:r>
              <a:t>ARK can tell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920240"/>
            <a:ext cx="2468880" cy="25603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Can they detect a new threat type?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ARK can predict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920240"/>
            <a:ext cx="2468880" cy="25603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Are their capabilities growing or decaying?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ARK tracks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9096" y="1920240"/>
            <a:ext cx="2468880" cy="25603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After a mistake, do they recover or cascade?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F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ARK reveals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THE ARK CAPS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Four capabilities. The operating system of human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468880" cy="22860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77E7"/>
                </a:solidFill>
                <a:latin typeface="Calibri"/>
              </a:defRPr>
            </a:pPr>
            <a:r>
              <a:t>CAP-1 Sensemaking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0EB"/>
                </a:solidFill>
                <a:latin typeface="Calibri"/>
              </a:defRPr>
            </a:pPr>
            <a:r>
              <a:t>Can they read the situation correctly?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56F"/>
                </a:solidFill>
                <a:latin typeface="Calibri"/>
              </a:defRPr>
            </a:pPr>
            <a:r>
              <a:t>Maps to: Detection Accuracy + Attention/Gaze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828800"/>
            <a:ext cx="2468880" cy="22860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CAP-2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0EB"/>
                </a:solidFill>
                <a:latin typeface="Calibri"/>
              </a:defRPr>
            </a:pPr>
            <a:r>
              <a:t>Can they relay information under pressure?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56F"/>
                </a:solidFill>
                <a:latin typeface="Calibri"/>
              </a:defRPr>
            </a:pPr>
            <a:r>
              <a:t>Maps to: Alarm handling + marking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828800"/>
            <a:ext cx="2468880" cy="22860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CAP-3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0EB"/>
                </a:solidFill>
                <a:latin typeface="Calibri"/>
              </a:defRPr>
            </a:pPr>
            <a:r>
              <a:t>Right call, high stakes, short time?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56F"/>
                </a:solidFill>
                <a:latin typeface="Calibri"/>
              </a:defRPr>
            </a:pPr>
            <a:r>
              <a:t>Maps to: Timeliness + False Positive avoidance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9096" y="1828800"/>
            <a:ext cx="2468880" cy="22860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CAP-4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0EB"/>
                </a:solidFill>
                <a:latin typeface="Calibri"/>
              </a:defRPr>
            </a:pPr>
            <a:r>
              <a:t>Can they regroup after errors?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56F"/>
                </a:solidFill>
                <a:latin typeface="Calibri"/>
              </a:defRPr>
            </a:pPr>
            <a:r>
              <a:t>Maps to: Performance after missed detections + biometric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77E7"/>
                </a:solidFill>
                <a:latin typeface="Calibri"/>
              </a:defRPr>
            </a:pPr>
            <a:r>
              <a:t>Eye Tracking + Biometrics + Actions  &gt;&gt;  ARK CAPS Engine  &gt;&gt;  4 Capability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THREE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One truth. Every level gets what they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383280" cy="32004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77E7"/>
                </a:solidFill>
                <a:latin typeface="Calibri"/>
              </a:defRPr>
            </a:pPr>
            <a:r>
              <a:t>Operator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Ahmed Al-Rashid Profile</a:t>
            </a:r>
          </a:p>
          <a:p>
            <a:pPr>
              <a:defRPr sz="1200">
                <a:solidFill>
                  <a:srgbClr val="7A756F"/>
                </a:solidFill>
                <a:latin typeface="Calibri"/>
              </a:defRPr>
            </a:pPr>
          </a:p>
          <a:p>
            <a:pPr>
              <a:defRPr sz="1100">
                <a:solidFill>
                  <a:srgbClr val="F5F0EB"/>
                </a:solidFill>
                <a:latin typeface="Calibri"/>
              </a:defRPr>
            </a:pPr>
            <a:r>
              <a:t>CAP-1 Sensemaking: 91</a:t>
            </a:r>
          </a:p>
          <a:p>
            <a:pPr>
              <a:defRPr sz="1100">
                <a:solidFill>
                  <a:srgbClr val="F5F0EB"/>
                </a:solidFill>
                <a:latin typeface="Calibri"/>
              </a:defRPr>
            </a:pPr>
            <a:r>
              <a:t>CAP-2 Communication: 65</a:t>
            </a:r>
          </a:p>
          <a:p>
            <a:pPr>
              <a:defRPr sz="1100">
                <a:solidFill>
                  <a:srgbClr val="F5F0EB"/>
                </a:solidFill>
                <a:latin typeface="Calibri"/>
              </a:defRPr>
            </a:pPr>
            <a:r>
              <a:t>CAP-3 Decision: 84</a:t>
            </a:r>
          </a:p>
          <a:p>
            <a:pPr>
              <a:defRPr sz="1100">
                <a:solidFill>
                  <a:srgbClr val="F5F0EB"/>
                </a:solidFill>
                <a:latin typeface="Calibri"/>
              </a:defRPr>
            </a:pPr>
            <a:r>
              <a:t>CAP-4 Recovery: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828800"/>
            <a:ext cx="3383280" cy="32004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Supervisor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Team Heat Map</a:t>
            </a:r>
          </a:p>
          <a:p>
            <a:pPr>
              <a:defRPr sz="1200">
                <a:solidFill>
                  <a:srgbClr val="7A756F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8 operators x 4 CAPs</a:t>
            </a: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Color-coded performance grid</a:t>
            </a: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Instant identification of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383280" cy="32004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Organization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74% Overall Readiness</a:t>
            </a:r>
          </a:p>
          <a:p>
            <a:pPr>
              <a:defRPr sz="1200">
                <a:solidFill>
                  <a:srgbClr val="7A756F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2 shifts below threshold</a:t>
            </a: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Weakest CAP: Recovery (58)</a:t>
            </a:r>
          </a:p>
          <a:p>
            <a:pPr>
              <a:defRPr sz="1200">
                <a:solidFill>
                  <a:srgbClr val="F5F0EB"/>
                </a:solidFill>
                <a:latin typeface="Calibri"/>
              </a:defRPr>
            </a:pPr>
            <a:r>
              <a:t>Trend analysis across cycles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AI 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Feed it a session. Watch it think.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9966960" cy="4114800"/>
          </a:xfrm>
          <a:prstGeom prst="roundRect">
            <a:avLst/>
          </a:prstGeom>
          <a:solidFill>
            <a:srgbClr val="0A0A0E"/>
          </a:solidFill>
          <a:ln w="190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C55E"/>
                </a:solidFill>
                <a:latin typeface="Consolas"/>
              </a:defRPr>
            </a:pPr>
            <a:r>
              <a:t>&gt; ark analyze --session 2026-04-09-AM --operator ahmed.alrashid</a:t>
            </a:r>
          </a:p>
          <a:p>
            <a:pPr>
              <a:defRPr sz="800" b="0">
                <a:solidFill>
                  <a:srgbClr val="7A756F"/>
                </a:solidFill>
                <a:latin typeface="Consolas"/>
              </a:defRPr>
            </a:pPr>
          </a:p>
          <a:p>
            <a:pPr>
              <a:defRPr sz="1200" b="1">
                <a:solidFill>
                  <a:srgbClr val="1777E7"/>
                </a:solidFill>
                <a:latin typeface="Consolas"/>
              </a:defRPr>
            </a:pPr>
            <a:r>
              <a:t>CAPS SCORES</a:t>
            </a:r>
          </a:p>
          <a:p>
            <a:pPr>
              <a:defRPr sz="1100" b="0">
                <a:solidFill>
                  <a:srgbClr val="F5F0EB"/>
                </a:solidFill>
                <a:latin typeface="Consolas"/>
              </a:defRPr>
            </a:pPr>
            <a:r>
              <a:t>  Sensemaking: 91  |  Communication: 65  |  Decision: 84  |  Recovery: 52</a:t>
            </a:r>
          </a:p>
          <a:p>
            <a:pPr>
              <a:defRPr sz="800" b="0">
                <a:solidFill>
                  <a:srgbClr val="7A756F"/>
                </a:solidFill>
                <a:latin typeface="Consolas"/>
              </a:defRPr>
            </a:pPr>
          </a:p>
          <a:p>
            <a:pPr>
              <a:defRPr sz="1200" b="1">
                <a:solidFill>
                  <a:srgbClr val="F59E0B"/>
                </a:solidFill>
                <a:latin typeface="Consolas"/>
              </a:defRPr>
            </a:pPr>
            <a:r>
              <a:t>PATTERNS DETECTED</a:t>
            </a:r>
          </a:p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  [1] Stress-Performance Cliff</a:t>
            </a:r>
          </a:p>
          <a:p>
            <a:pPr>
              <a:defRPr sz="1100" b="0">
                <a:solidFill>
                  <a:srgbClr val="7A756F"/>
                </a:solidFill>
                <a:latin typeface="Consolas"/>
              </a:defRPr>
            </a:pPr>
            <a:r>
              <a:t>      Accuracy drops 34% when heart rate exceeds 95 bpm</a:t>
            </a:r>
          </a:p>
          <a:p>
            <a:pPr>
              <a:defRPr sz="1100" b="0">
                <a:solidFill>
                  <a:srgbClr val="7A756F"/>
                </a:solidFill>
                <a:latin typeface="Consolas"/>
              </a:defRPr>
            </a:pPr>
            <a:r>
              <a:t>      Confidence: 0.89  |  Occurrences: 3 of 5 sessions</a:t>
            </a:r>
          </a:p>
          <a:p>
            <a:pPr>
              <a:defRPr sz="800" b="0">
                <a:solidFill>
                  <a:srgbClr val="7A756F"/>
                </a:solidFill>
                <a:latin typeface="Consolas"/>
              </a:defRPr>
            </a:pPr>
          </a:p>
          <a:p>
            <a:pPr>
              <a:defRPr sz="1100" b="1">
                <a:solidFill>
                  <a:srgbClr val="EF4444"/>
                </a:solidFill>
                <a:latin typeface="Consolas"/>
              </a:defRPr>
            </a:pPr>
            <a:r>
              <a:t>  [2] Post-Error Cascade</a:t>
            </a:r>
          </a:p>
          <a:p>
            <a:pPr>
              <a:defRPr sz="1100" b="0">
                <a:solidFill>
                  <a:srgbClr val="7A756F"/>
                </a:solidFill>
                <a:latin typeface="Consolas"/>
              </a:defRPr>
            </a:pPr>
            <a:r>
              <a:t>      94-second tunnel vision window after missed detection</a:t>
            </a:r>
          </a:p>
          <a:p>
            <a:pPr>
              <a:defRPr sz="1100" b="0">
                <a:solidFill>
                  <a:srgbClr val="7A756F"/>
                </a:solidFill>
                <a:latin typeface="Consolas"/>
              </a:defRPr>
            </a:pPr>
            <a:r>
              <a:t>      Recovery pattern: delayed fixation reset</a:t>
            </a:r>
          </a:p>
          <a:p>
            <a:pPr>
              <a:defRPr sz="800" b="0">
                <a:solidFill>
                  <a:srgbClr val="7A756F"/>
                </a:solidFill>
                <a:latin typeface="Consolas"/>
              </a:defRPr>
            </a:pPr>
          </a:p>
          <a:p>
            <a:pPr>
              <a:defRPr sz="1200" b="1">
                <a:solidFill>
                  <a:srgbClr val="22C55E"/>
                </a:solidFill>
                <a:latin typeface="Consolas"/>
              </a:defRPr>
            </a:pPr>
            <a:r>
              <a:t>RECOMMENDATION</a:t>
            </a:r>
          </a:p>
          <a:p>
            <a:pPr>
              <a:defRPr sz="1100" b="0">
                <a:solidFill>
                  <a:srgbClr val="F5F0EB"/>
                </a:solidFill>
                <a:latin typeface="Consolas"/>
              </a:defRPr>
            </a:pPr>
            <a:r>
              <a:t>  Pair Ahmed with Tariq N. for structured recovery drills.</a:t>
            </a:r>
          </a:p>
          <a:p>
            <a:pPr>
              <a:defRPr sz="1100" b="0">
                <a:solidFill>
                  <a:srgbClr val="7A756F"/>
                </a:solidFill>
                <a:latin typeface="Consolas"/>
              </a:defRPr>
            </a:pPr>
            <a:r>
              <a:t>  Focus: controlled stress inoculation + post-error reset exercises.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Same data. Completely different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36576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7A7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A756F"/>
                </a:solidFill>
                <a:latin typeface="Calibri"/>
              </a:defRPr>
            </a:pPr>
            <a:r>
              <a:t>Before 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A756F"/>
                </a:solidFill>
                <a:latin typeface="Calibri"/>
              </a:defRPr>
            </a:pPr>
            <a:r>
              <a:t>Score: 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56F"/>
                </a:solidFill>
                <a:latin typeface="Calibri"/>
              </a:defRPr>
            </a:pPr>
            <a:r>
              <a:t>"Competent."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756F"/>
                </a:solidFill>
                <a:latin typeface="Calibri"/>
              </a:defRPr>
            </a:pPr>
            <a:r>
              <a:t>End of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029200" cy="36576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77E7"/>
                </a:solidFill>
                <a:latin typeface="Calibri"/>
              </a:defRPr>
            </a:pPr>
            <a:r>
              <a:t>After 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77E7"/>
                </a:solidFill>
                <a:latin typeface="Calibri"/>
              </a:defRPr>
            </a:pPr>
            <a:r>
              <a:t>CAPS Profile</a:t>
            </a:r>
          </a:p>
          <a:p>
            <a:pPr>
              <a:defRPr sz="600" b="0">
                <a:solidFill>
                  <a:srgbClr val="7A756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5F0EB"/>
                </a:solidFill>
                <a:latin typeface="Calibri"/>
              </a:defRPr>
            </a:pPr>
            <a:r>
              <a:t>Sensemaking:     91</a:t>
            </a:r>
          </a:p>
          <a:p>
            <a:pPr>
              <a:defRPr sz="1400" b="0">
                <a:solidFill>
                  <a:srgbClr val="F59E0B"/>
                </a:solidFill>
                <a:latin typeface="Calibri"/>
              </a:defRPr>
            </a:pPr>
            <a:r>
              <a:t>Communication:   65</a:t>
            </a:r>
          </a:p>
          <a:p>
            <a:pPr>
              <a:defRPr sz="1400" b="0">
                <a:solidFill>
                  <a:srgbClr val="F5F0EB"/>
                </a:solidFill>
                <a:latin typeface="Calibri"/>
              </a:defRPr>
            </a:pPr>
            <a:r>
              <a:t>Decision:        84</a:t>
            </a:r>
          </a:p>
          <a:p>
            <a:pPr>
              <a:defRPr sz="1400" b="0">
                <a:solidFill>
                  <a:srgbClr val="EF4444"/>
                </a:solidFill>
                <a:latin typeface="Calibri"/>
              </a:defRPr>
            </a:pPr>
            <a:r>
              <a:t>Recovery:        52</a:t>
            </a:r>
          </a:p>
          <a:p>
            <a:pPr>
              <a:defRPr sz="800" b="0">
                <a:solidFill>
                  <a:srgbClr val="7A756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22C55E"/>
                </a:solidFill>
                <a:latin typeface="Calibri"/>
              </a:defRPr>
            </a:pPr>
            <a:r>
              <a:t>AI: Pair for recovery drills.</a:t>
            </a:r>
          </a:p>
          <a:p>
            <a:pPr>
              <a:defRPr sz="1300" b="0">
                <a:solidFill>
                  <a:srgbClr val="22C55E"/>
                </a:solidFill>
                <a:latin typeface="Calibri"/>
              </a:defRPr>
            </a:pPr>
            <a:r>
              <a:t>Focus on stress inoculation.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The numbers behind capability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A756F"/>
                </a:solidFill>
                <a:latin typeface="Calibri"/>
              </a:defRPr>
            </a:pPr>
            <a:r>
              <a:t>Default Parameters: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56F"/>
                </a:solidFill>
                <a:latin typeface="Calibri"/>
              </a:defRPr>
            </a:pPr>
            <a:r>
              <a:t>40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56F"/>
                </a:solidFill>
                <a:latin typeface="Calibri"/>
              </a:defRPr>
            </a:pPr>
            <a:r>
              <a:t>4 sessions/month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56F"/>
                </a:solidFill>
                <a:latin typeface="Calibri"/>
              </a:defRPr>
            </a:pPr>
            <a:r>
              <a:t>3 manual hours per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56F"/>
                </a:solidFill>
                <a:latin typeface="Calibri"/>
              </a:defRPr>
            </a:pPr>
            <a:r>
              <a:t>AED 500,000 missed detection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931920"/>
            <a:ext cx="2468880" cy="16459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1,440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56F"/>
                </a:solidFill>
                <a:latin typeface="Calibri"/>
              </a:defRPr>
            </a:pPr>
            <a:r>
              <a:t>Hours Saved /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3931920"/>
            <a:ext cx="2468880" cy="16459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77E7"/>
                </a:solidFill>
                <a:latin typeface="Calibri"/>
              </a:defRPr>
            </a:pPr>
            <a:r>
              <a:t>+23%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56F"/>
                </a:solidFill>
                <a:latin typeface="Calibri"/>
              </a:defRPr>
            </a:pPr>
            <a:r>
              <a:t>Capability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3931920"/>
            <a:ext cx="2468880" cy="16459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56F"/>
                </a:solidFill>
                <a:latin typeface="Calibri"/>
              </a:defRPr>
            </a:pPr>
            <a:r>
              <a:t>Blind Spot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9096" y="3931920"/>
            <a:ext cx="2468880" cy="164592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AED 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56F"/>
                </a:solidFill>
                <a:latin typeface="Calibri"/>
              </a:defRPr>
            </a:pPr>
            <a:r>
              <a:t>Risk Avoidance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You've built the foundation. ARK is the upgrade, not a rebuild.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71800"/>
            <a:ext cx="9418320" cy="3810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468880" cy="21945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177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1965960"/>
            <a:ext cx="274320" cy="274320"/>
          </a:xfrm>
          <a:prstGeom prst="ellipse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777E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CAPS Data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56F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2103120"/>
            <a:ext cx="2468880" cy="21945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16552" y="196596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Dashboard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56F"/>
                </a:solidFill>
                <a:latin typeface="Calibri"/>
              </a:defRPr>
            </a:pPr>
            <a:r>
              <a:t>6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2103120"/>
            <a:ext cx="2468880" cy="21945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196596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AI Analysis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56F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9096" y="2103120"/>
            <a:ext cx="2468880" cy="219456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66376" y="196596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6256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0EB"/>
                </a:solidFill>
                <a:latin typeface="Calibri"/>
              </a:defRPr>
            </a:pPr>
            <a:r>
              <a:t>Continuous Capability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56F"/>
                </a:solidFill>
                <a:latin typeface="Calibri"/>
              </a:defRPr>
            </a:pPr>
            <a:r>
              <a:t>Ongoing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0EB"/>
                </a:solidFill>
                <a:latin typeface="Calibri"/>
              </a:defRPr>
            </a:pPr>
            <a:r>
              <a:t>MCC didn't just buy training. MCC built a capability measurement infrastructure.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756F"/>
                </a:solidFill>
                <a:latin typeface="Calibri"/>
              </a:defRPr>
            </a:pPr>
            <a:r>
              <a:t>The question isn't whether to integrate ARK. It's how much longer you want to fly without instruments.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474720"/>
            <a:ext cx="3931920" cy="731520"/>
          </a:xfrm>
          <a:prstGeom prst="round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5204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0EB"/>
                </a:solidFill>
                <a:latin typeface="Calibri"/>
              </a:defRPr>
            </a:pPr>
            <a:r>
              <a:t>Let's Build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756F"/>
                </a:solidFill>
                <a:latin typeface="Calibri"/>
              </a:defRPr>
            </a:pPr>
            <a:r>
              <a:t>MCC | CONFIDENTIAL | Prepared April 2026</a:t>
            </a:r>
          </a:p>
        </p:txBody>
      </p:sp>
      <p:pic>
        <p:nvPicPr>
          <p:cNvPr id="7" name="Picture 6" descr="mcc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4389120"/>
            <a:ext cx="1097280" cy="969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