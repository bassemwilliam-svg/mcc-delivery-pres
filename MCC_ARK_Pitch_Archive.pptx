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4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828800"/>
            <a:ext cx="2743200" cy="381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777E7"/>
                </a:solidFill>
                <a:latin typeface="Calibri"/>
              </a:defRPr>
            </a:pPr>
            <a:r>
              <a:t>ARK x MCC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5F0EB"/>
                </a:solidFill>
                <a:latin typeface="Calibri"/>
              </a:defRPr>
            </a:pPr>
            <a:r>
              <a:t>Capability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Calibri"/>
              </a:defRPr>
            </a:pPr>
            <a:r>
              <a:t>Phase 2 Proposal  |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Confidential  |  MCC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77E7"/>
                </a:solidFill>
                <a:latin typeface="Calibri"/>
              </a:defRPr>
            </a:pPr>
            <a:r>
              <a:t>What We've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0EB"/>
                </a:solidFill>
                <a:latin typeface="Calibri"/>
              </a:defRPr>
            </a:pPr>
            <a:r>
              <a:t>The MCC VR Training System is already world-class.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377440" cy="201168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77E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VR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03120"/>
            <a:ext cx="2377440" cy="201168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2286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77E7"/>
                </a:solidFill>
                <a:latin typeface="Calibri"/>
              </a:defRPr>
            </a:pPr>
            <a:r>
              <a:t>8+1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Operator + Supervisor</a:t>
            </a:r>
            <a:br/>
            <a:r>
              <a:t>Stations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2377440" cy="201168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77E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Biometric Signals</a:t>
            </a:r>
            <a:br/>
            <a:r>
              <a:t>Tracked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103120"/>
            <a:ext cx="2377440" cy="201168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2286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77E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Scoring</a:t>
            </a:r>
            <a:br/>
            <a:r>
              <a:t>Dimensions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0EB"/>
                </a:solidFill>
                <a:latin typeface="Calibri"/>
              </a:defRPr>
            </a:pPr>
            <a:r>
              <a:t>This is an exceptional training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8899"/>
                </a:solidFill>
                <a:latin typeface="Calibri"/>
              </a:defRPr>
            </a:pPr>
            <a:r>
              <a:t>But right now, it's measuring performance. It's not yet measuring capability.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77E7"/>
                </a:solidFill>
                <a:latin typeface="Calibri"/>
              </a:defRPr>
            </a:pPr>
            <a:r>
              <a:t>The Capability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0EB"/>
                </a:solidFill>
                <a:latin typeface="Calibri"/>
              </a:defRPr>
            </a:pPr>
            <a:r>
              <a:t>An operator scores 82. Now imagine knowing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377440" cy="292608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0EB"/>
                </a:solidFill>
                <a:latin typeface="Calibri"/>
              </a:defRPr>
            </a:pPr>
            <a:r>
              <a:t>How will they perform</a:t>
            </a:r>
            <a:br/>
            <a:r>
              <a:t>under real-world stress?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77E7"/>
                </a:solidFill>
                <a:latin typeface="Calibri"/>
              </a:defRPr>
            </a:pPr>
            <a:r>
              <a:t>ARK can tell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03120"/>
            <a:ext cx="2377440" cy="292608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0EB"/>
                </a:solidFill>
                <a:latin typeface="Calibri"/>
              </a:defRPr>
            </a:pPr>
            <a:r>
              <a:t>Can they detect</a:t>
            </a:r>
            <a:br/>
            <a:r>
              <a:t>a new threat type?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77E7"/>
                </a:solidFill>
                <a:latin typeface="Calibri"/>
              </a:defRPr>
            </a:pPr>
            <a:r>
              <a:t>ARK can predict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2377440" cy="292608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0EB"/>
                </a:solidFill>
                <a:latin typeface="Calibri"/>
              </a:defRPr>
            </a:pPr>
            <a:r>
              <a:t>Are capabilities</a:t>
            </a:r>
            <a:br/>
            <a:r>
              <a:t>growing or decaying?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77E7"/>
                </a:solidFill>
                <a:latin typeface="Calibri"/>
              </a:defRPr>
            </a:pPr>
            <a:r>
              <a:t>ARK can track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103120"/>
            <a:ext cx="2377440" cy="292608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0EB"/>
                </a:solidFill>
                <a:latin typeface="Calibri"/>
              </a:defRPr>
            </a:pPr>
            <a:r>
              <a:t>After a mistake, do they</a:t>
            </a:r>
            <a:br/>
            <a:r>
              <a:t>recover or cascade?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77E7"/>
                </a:solidFill>
                <a:latin typeface="Calibri"/>
              </a:defRPr>
            </a:pPr>
            <a:r>
              <a:t>ARK can reveal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77E7"/>
                </a:solidFill>
                <a:latin typeface="Calibri"/>
              </a:defRPr>
            </a:pPr>
            <a:r>
              <a:t>ARK CAPS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0EB"/>
                </a:solidFill>
                <a:latin typeface="Calibri"/>
              </a:defRPr>
            </a:pPr>
            <a:r>
              <a:t>Four capabilities. The operating system of human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377440" cy="256032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CAP-1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0EB"/>
                </a:solidFill>
                <a:latin typeface="Calibri"/>
              </a:defRPr>
            </a:pPr>
            <a:r>
              <a:t>Sensemaking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777E7"/>
                </a:solidFill>
                <a:latin typeface="Calibri"/>
              </a:defRPr>
            </a:pPr>
            <a:r>
              <a:t>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03120"/>
            <a:ext cx="2377440" cy="256032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CAP-2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0EB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74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74C3C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377440" cy="256032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CAP-3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0EB"/>
                </a:solidFill>
                <a:latin typeface="Calibri"/>
              </a:defRPr>
            </a:pPr>
            <a:r>
              <a:t>Decision Under</a:t>
            </a:r>
            <a:br/>
            <a: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777E7"/>
                </a:solidFill>
                <a:latin typeface="Calibri"/>
              </a:defRPr>
            </a:pPr>
            <a:r>
              <a:t>84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103120"/>
            <a:ext cx="2377440" cy="256032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CAP-4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603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0EB"/>
                </a:solidFill>
                <a:latin typeface="Calibri"/>
              </a:defRPr>
            </a:pPr>
            <a:r>
              <a:t>Recovery &amp;</a:t>
            </a:r>
            <a:br/>
            <a:r>
              <a:t>Resilience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474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74C3C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8899"/>
                </a:solidFill>
                <a:latin typeface="Calibri"/>
              </a:defRPr>
            </a:pPr>
            <a:r>
              <a:t>You're already collecting the data. ARK makes it speak.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77E7"/>
                </a:solidFill>
                <a:latin typeface="Calibri"/>
              </a:defRPr>
            </a:pPr>
            <a:r>
              <a:t>Three Dashboards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0EB"/>
                </a:solidFill>
                <a:latin typeface="Calibri"/>
              </a:defRPr>
            </a:pPr>
            <a:r>
              <a:t>One truth. Every level gets what they need.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347472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77E7"/>
                </a:solidFill>
                <a:latin typeface="Calibri"/>
              </a:defRPr>
            </a:pPr>
            <a:r>
              <a:t>Operator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Ahmed Al-Rashid's personal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CAPS scores: 91 / 65 / 84 / 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AI-generated growth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Session-over-session trend 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291840" cy="347472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77E7"/>
                </a:solidFill>
                <a:latin typeface="Calibri"/>
              </a:defRPr>
            </a:pPr>
            <a:r>
              <a:t>Supervisor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Team heat map: 8 operators x 4 CAPs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Color-coded capability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Drill-down into individual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Team readiness score &amp;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291840" cy="347472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777E7"/>
                </a:solidFill>
                <a:latin typeface="Calibri"/>
              </a:defRPr>
            </a:pPr>
            <a:r>
              <a:t>Organization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74% overall readiness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Systemic CAP-4 weakness identified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Cross-team capability benchmarks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0EB"/>
                </a:solidFill>
                <a:latin typeface="Calibri"/>
              </a:defRPr>
            </a:pPr>
            <a:r>
              <a:t>  Strategic workforce planning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77E7"/>
                </a:solidFill>
                <a:latin typeface="Calibri"/>
              </a:defRPr>
            </a:pPr>
            <a:r>
              <a:t>AI Analysis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0EB"/>
                </a:solidFill>
                <a:latin typeface="Calibri"/>
              </a:defRPr>
            </a:pPr>
            <a:r>
              <a:t>Feed it a session. Watch it think.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27432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0EB"/>
                </a:solidFill>
                <a:latin typeface="Calibri"/>
              </a:defRPr>
            </a:pPr>
            <a:r>
              <a:t>Stress-Performance Cliff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53925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rPr dirty="0"/>
              <a:t>34% decision accuracy drop</a:t>
            </a:r>
            <a:br>
              <a:rPr dirty="0"/>
            </a:br>
            <a:r>
              <a:rPr dirty="0"/>
              <a:t>when heart rate exceeds 95 bpm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291840" cy="27432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0EB"/>
                </a:solidFill>
                <a:latin typeface="Calibri"/>
              </a:defRPr>
            </a:pPr>
            <a:r>
              <a:t>Post-Error Cascade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1089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94 seconds of tunnel vision</a:t>
            </a:r>
            <a:br/>
            <a:r>
              <a:t>after first major mistake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291840" cy="27432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77E7"/>
                </a:solidFill>
                <a:latin typeface="Calibri"/>
              </a:defRPr>
            </a:pPr>
            <a:r>
              <a:t>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0EB"/>
                </a:solidFill>
                <a:latin typeface="Calibri"/>
              </a:defRPr>
            </a:pPr>
            <a:r>
              <a:t>Capability Decay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089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CAP-4 declining 12% per quarter</a:t>
            </a:r>
            <a:br/>
            <a:r>
              <a:t>across all 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Every finding is generated from data MCC already collects.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77E7"/>
                </a:solidFill>
                <a:latin typeface="Calibri"/>
              </a:defRPr>
            </a:pPr>
            <a:r>
              <a:t>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0EB"/>
                </a:solidFill>
                <a:latin typeface="Calibri"/>
              </a:defRPr>
            </a:pPr>
            <a:r>
              <a:t>Same data. Completely different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36576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0EB"/>
                </a:solidFill>
                <a:latin typeface="Calibri"/>
              </a:defRPr>
            </a:pPr>
            <a:r>
              <a:t>Traditional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88899"/>
                </a:solidFill>
                <a:latin typeface="Calibri"/>
              </a:defRPr>
            </a:pPr>
            <a:r>
              <a:t>Score: 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Calibri"/>
              </a:defRPr>
            </a:pPr>
            <a:r>
              <a:t>"Competent"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End of 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5029200" cy="36576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77E7"/>
                </a:solidFill>
                <a:latin typeface="Calibri"/>
              </a:defRPr>
            </a:pPr>
            <a:r>
              <a:t>AFTER  (with ARK)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0EB"/>
                </a:solidFill>
                <a:latin typeface="Calibri"/>
              </a:defRPr>
            </a:pPr>
            <a:r>
              <a:t>Capability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77E7"/>
                </a:solidFill>
                <a:latin typeface="Calibri"/>
              </a:defRPr>
            </a:pPr>
            <a:r>
              <a:t>CAPS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66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F0EB"/>
                </a:solidFill>
                <a:latin typeface="Calibri"/>
              </a:defRPr>
            </a:pPr>
            <a:r>
              <a:t>91  /  65  /  84  /  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Calibri"/>
              </a:defRPr>
            </a:pPr>
            <a:r>
              <a:t>Sensemaking | Comms | Decision |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6634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77E7"/>
                </a:solidFill>
                <a:latin typeface="Calibri"/>
              </a:defRPr>
            </a:pPr>
            <a:r>
              <a:t>AI Recommendation:</a:t>
            </a:r>
            <a:br/>
            <a:r>
              <a:t>Prioritize recovery drills under stress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77E7"/>
                </a:solidFill>
                <a:latin typeface="Calibri"/>
              </a:defRPr>
            </a:pPr>
            <a:r>
              <a:t>ROI Calculator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0EB"/>
                </a:solidFill>
                <a:latin typeface="Calibri"/>
              </a:defRPr>
            </a:pPr>
            <a:r>
              <a:t>The numbers behind capability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377440" cy="3200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77E7"/>
                </a:solidFill>
                <a:latin typeface="Calibri"/>
              </a:defRPr>
            </a:pPr>
            <a:r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F0EB"/>
                </a:solidFill>
                <a:latin typeface="Calibri"/>
              </a:defRPr>
            </a:pPr>
            <a:r>
              <a:t>Assessment</a:t>
            </a:r>
            <a:br/>
            <a:r>
              <a:t>Hours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8622" y="4456027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rPr dirty="0"/>
              <a:t>Automated capability</a:t>
            </a:r>
            <a:br>
              <a:rPr dirty="0"/>
            </a:br>
            <a:r>
              <a:rPr dirty="0"/>
              <a:t>scoring reduces manual</a:t>
            </a:r>
            <a:br>
              <a:rPr dirty="0"/>
            </a:br>
            <a:r>
              <a:rPr dirty="0"/>
              <a:t>assessment overhead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03120"/>
            <a:ext cx="2377440" cy="3200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77E7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F0EB"/>
                </a:solidFill>
                <a:latin typeface="Calibri"/>
              </a:defRPr>
            </a:pPr>
            <a:r>
              <a:t>+23%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566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Capability</a:t>
            </a:r>
            <a:br/>
            <a:r>
              <a:t>improvement through</a:t>
            </a:r>
            <a:br/>
            <a:r>
              <a:t>targeted AI-driven</a:t>
            </a:r>
            <a:br/>
            <a:r>
              <a:t>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377440" cy="3200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77E7"/>
                </a:solidFill>
                <a:latin typeface="Calibri"/>
              </a:defRPr>
            </a:pPr>
            <a: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F0EB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Blind spot reduction</a:t>
            </a:r>
            <a:br/>
            <a:r>
              <a:t>by surfacing hidden</a:t>
            </a:r>
            <a:br/>
            <a:r>
              <a:t>capability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103120"/>
            <a:ext cx="2377440" cy="320040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77E7"/>
                </a:solidFill>
                <a:latin typeface="Calibri"/>
              </a:defRPr>
            </a:pPr>
            <a:r>
              <a:t>FINANCIAL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F0EB"/>
                </a:solidFill>
                <a:latin typeface="Calibri"/>
              </a:defRPr>
            </a:pPr>
            <a:r>
              <a:t>AED 2.4M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566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Risk avoidance through</a:t>
            </a:r>
            <a:br/>
            <a:r>
              <a:t>predictive capability</a:t>
            </a:r>
            <a:br/>
            <a:r>
              <a:t>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77E7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371600" cy="381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438912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B"/>
                </a:solidFill>
                <a:latin typeface="Calibri"/>
              </a:defRPr>
            </a:pPr>
            <a:r>
              <a:t>CAPS Data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alibri"/>
              </a:defRPr>
            </a:pPr>
            <a:r>
              <a:t>4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Map 9 biometric signals to 4 CAPs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Define scoring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Historical data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474720"/>
            <a:ext cx="228600" cy="254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4720" y="1645920"/>
            <a:ext cx="2377440" cy="438912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B"/>
                </a:solidFill>
                <a:latin typeface="Calibri"/>
              </a:defRPr>
            </a:pPr>
            <a:r>
              <a:t>Dashboard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alibri"/>
              </a:defRPr>
            </a:pPr>
            <a:r>
              <a:t>6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Operator personal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520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Supervisor heat map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Organization readiness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474720"/>
            <a:ext cx="228600" cy="254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2377440" cy="438912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B"/>
                </a:solidFill>
                <a:latin typeface="Calibri"/>
              </a:defRPr>
            </a:pPr>
            <a:r>
              <a:t>AI Analysis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alibri"/>
              </a:defRPr>
            </a:pPr>
            <a:r>
              <a:t>4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Pattern recognition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Stress-performance correlation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Predictive capability scoring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474720"/>
            <a:ext cx="228600" cy="254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61120" y="1645920"/>
            <a:ext cx="2377440" cy="4389120"/>
          </a:xfrm>
          <a:prstGeom prst="roundRect">
            <a:avLst/>
          </a:prstGeom>
          <a:solidFill>
            <a:srgbClr val="16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77E7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B"/>
                </a:solidFill>
                <a:latin typeface="Calibri"/>
              </a:defRPr>
            </a:pPr>
            <a:r>
              <a:t>Continuous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Automated session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520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Capability decay 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0EB"/>
                </a:solidFill>
                <a:latin typeface="Calibri"/>
              </a:defRPr>
            </a:pPr>
            <a:r>
              <a:t>  Strategic workforce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828800"/>
            <a:ext cx="2743200" cy="38100"/>
          </a:xfrm>
          <a:prstGeom prst="rect">
            <a:avLst/>
          </a:prstGeom>
          <a:solidFill>
            <a:srgbClr val="177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0EB"/>
                </a:solidFill>
                <a:latin typeface="Calibri"/>
              </a:defRPr>
            </a:pPr>
            <a:r>
              <a:t>MCC didn't just buy training.</a:t>
            </a:r>
            <a:br/>
            <a:r>
              <a:t>MCC built a capability measurement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8899"/>
                </a:solidFill>
                <a:latin typeface="Calibri"/>
              </a:defRPr>
            </a:pPr>
            <a:r>
              <a:t>The question isn't whether to integrate ARK.</a:t>
            </a:r>
            <a:br/>
            <a:r>
              <a:t>It's how much longer you want to fly without instruments.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77E7"/>
                </a:solidFill>
                <a:latin typeface="Calibri"/>
              </a:defRPr>
            </a:pPr>
            <a:r>
              <a:t>ARK x MCC  |  Capability Intelligence Platform  |  Phase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565</Words>
  <Application>Microsoft Macintosh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Bassem William</cp:lastModifiedBy>
  <cp:revision>2</cp:revision>
  <dcterms:created xsi:type="dcterms:W3CDTF">2013-01-27T09:14:16Z</dcterms:created>
  <dcterms:modified xsi:type="dcterms:W3CDTF">2026-04-14T05:42:45Z</dcterms:modified>
  <cp:category/>
</cp:coreProperties>
</file>